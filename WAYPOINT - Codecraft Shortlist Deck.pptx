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8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7" r:id="rId11"/>
  </p:sldIdLst>
  <p:sldSz cx="15240000" cy="8572500"/>
  <p:notesSz cx="6858000" cy="9144000"/>
  <p:embeddedFontLst>
    <p:embeddedFont>
      <p:font typeface="Lucida Sans Unicode" panose="020B0602030504020204" pitchFamily="34" charset="0"/>
      <p:regular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94660"/>
  </p:normalViewPr>
  <p:slideViewPr>
    <p:cSldViewPr snapToGrid="0">
      <p:cViewPr>
        <p:scale>
          <a:sx n="75" d="100"/>
          <a:sy n="75" d="100"/>
        </p:scale>
        <p:origin x="427" y="1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B16A9-11C0-40B3-9380-E10BFAB3FF69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BCBDB-2C2B-4ACC-B9F3-DABD9069D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01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BCBDB-2C2B-4ACC-B9F3-DABD9069D50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svg"/><Relationship Id="rId14" Type="http://schemas.openxmlformats.org/officeDocument/2006/relationships/image" Target="../media/image12.png"/><Relationship Id="rId15" Type="http://schemas.openxmlformats.org/officeDocument/2006/relationships/image" Target="../media/image1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19.png"/><Relationship Id="rId24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4.png"/><Relationship Id="rId13" Type="http://schemas.openxmlformats.org/officeDocument/2006/relationships/image" Target="../media/image11.svg"/><Relationship Id="rId14" Type="http://schemas.openxmlformats.org/officeDocument/2006/relationships/image" Target="../media/image13.jpe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18.png"/><Relationship Id="rId20" Type="http://schemas.openxmlformats.org/officeDocument/2006/relationships/image" Target="../media/image32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1.svg"/><Relationship Id="rId13" Type="http://schemas.openxmlformats.org/officeDocument/2006/relationships/image" Target="../media/image13.jpeg"/><Relationship Id="rId14" Type="http://schemas.openxmlformats.org/officeDocument/2006/relationships/image" Target="../media/image25.png"/><Relationship Id="rId15" Type="http://schemas.openxmlformats.org/officeDocument/2006/relationships/image" Target="../media/image32.png"/><Relationship Id="rId1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image" Target="../media/image13.jpe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986" y="20618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300886" y="7216876"/>
            <a:ext cx="925128" cy="1094587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BE5FEF-863C-AF80-052B-3D76C4E01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53A910-2018-3FD0-C826-383C89CA03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211" y="1612321"/>
            <a:ext cx="8387577" cy="4719164"/>
          </a:xfrm>
          <a:prstGeom prst="rect">
            <a:avLst/>
          </a:prstGeom>
        </p:spPr>
      </p:pic>
      <p:sp>
        <p:nvSpPr>
          <p:cNvPr id="17" name="object 2">
            <a:extLst>
              <a:ext uri="{FF2B5EF4-FFF2-40B4-BE49-F238E27FC236}">
                <a16:creationId xmlns:a16="http://schemas.microsoft.com/office/drawing/2014/main" id="{5A5CB000-8127-096D-D6DF-2448E7DA80E2}"/>
              </a:ext>
            </a:extLst>
          </p:cNvPr>
          <p:cNvSpPr txBox="1"/>
          <p:nvPr/>
        </p:nvSpPr>
        <p:spPr>
          <a:xfrm>
            <a:off x="5035380" y="4907294"/>
            <a:ext cx="5494967" cy="47769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3000" spc="140">
                <a:latin typeface="Trebuchet MS"/>
                <a:cs typeface="Trebuchet MS"/>
              </a:rPr>
              <a:t>A</a:t>
            </a:r>
            <a:r>
              <a:rPr lang="en-US" sz="3000" spc="140">
                <a:latin typeface="Trebuchet MS"/>
                <a:cs typeface="Trebuchet MS"/>
              </a:rPr>
              <a:t> STATE</a:t>
            </a:r>
            <a:r>
              <a:rPr lang="en-US" sz="3000" spc="-420">
                <a:latin typeface="Trebuchet MS"/>
                <a:cs typeface="Trebuchet MS"/>
              </a:rPr>
              <a:t> </a:t>
            </a:r>
            <a:r>
              <a:rPr lang="en-IN" sz="3000" spc="-420">
                <a:latin typeface="Trebuchet MS"/>
                <a:cs typeface="Trebuchet MS"/>
              </a:rPr>
              <a:t> </a:t>
            </a:r>
            <a:r>
              <a:rPr sz="3000" spc="-70">
                <a:latin typeface="Trebuchet MS"/>
                <a:cs typeface="Trebuchet MS"/>
              </a:rPr>
              <a:t>LEVEL</a:t>
            </a:r>
            <a:r>
              <a:rPr lang="en-IN" sz="3000" spc="-70">
                <a:latin typeface="Trebuchet MS"/>
                <a:cs typeface="Trebuchet MS"/>
              </a:rPr>
              <a:t> </a:t>
            </a:r>
            <a:r>
              <a:rPr sz="3000" spc="-415">
                <a:latin typeface="Trebuchet MS"/>
                <a:cs typeface="Trebuchet MS"/>
              </a:rPr>
              <a:t> </a:t>
            </a:r>
            <a:r>
              <a:rPr sz="3000" spc="-50">
                <a:latin typeface="Trebuchet MS"/>
                <a:cs typeface="Trebuchet MS"/>
              </a:rPr>
              <a:t>HACKATHON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7FBD4B-4D94-B086-83AD-D272D96E930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3647-8BFA-C484-1204-81DB3CC5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A8D980-AEC6-0340-215A-5FC223483028}"/>
              </a:ext>
            </a:extLst>
          </p:cNvPr>
          <p:cNvSpPr/>
          <p:nvPr/>
        </p:nvSpPr>
        <p:spPr>
          <a:xfrm>
            <a:off x="59557" y="-1412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lIns="91440" tIns="45720" rIns="91440" bIns="45720"/>
          <a:lstStyle/>
          <a:p>
            <a:r>
              <a:rPr lang="en-US" sz="2800" spc="-150">
                <a:latin typeface="Lucida Sans Unicode"/>
                <a:cs typeface="Lucida Sans Unicode"/>
              </a:rPr>
              <a:t> </a:t>
            </a:r>
            <a:endParaRPr lang="en-US" sz="2800" spc="175">
              <a:latin typeface="Lucida Sans Unicode"/>
              <a:cs typeface="Lucida Sans Unicode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1B37398-5BE9-EC32-4038-64CF72170980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B98C98-7272-5EC9-F95A-36F5CF196F29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082F294-D249-6918-F259-6DBB8C92B738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94DC210-4FEB-C421-A47E-794E296F0E3C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D2C966F-0667-C2E2-24EF-21F2FD3651FF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3B3252-BCD4-E7D4-D9B4-E785375655D4}"/>
              </a:ext>
            </a:extLst>
          </p:cNvPr>
          <p:cNvSpPr/>
          <p:nvPr/>
        </p:nvSpPr>
        <p:spPr>
          <a:xfrm>
            <a:off x="-26204" y="-1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8C9FA3C-3127-BF47-95DF-645AF4EB23CE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2C27573-225E-FE97-85E6-5032C740B696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16B03F1-E4AD-662E-9D24-7760F321554F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935A43-0B95-AC41-57EF-75FCAD5193C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9A16F9-6BC8-B8F6-2B6E-C7D9688F4927}"/>
              </a:ext>
            </a:extLst>
          </p:cNvPr>
          <p:cNvSpPr txBox="1"/>
          <p:nvPr/>
        </p:nvSpPr>
        <p:spPr>
          <a:xfrm>
            <a:off x="6941015" y="1146932"/>
            <a:ext cx="4300000" cy="7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Arial"/>
              </a:rPr>
              <a:t>WAYPOINT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4A145E-322C-8164-4008-733FBE06FD58}"/>
              </a:ext>
            </a:extLst>
          </p:cNvPr>
          <p:cNvSpPr txBox="1"/>
          <p:nvPr/>
        </p:nvSpPr>
        <p:spPr>
          <a:xfrm>
            <a:off x="698500" y="2450000"/>
            <a:ext cx="9200000" cy="10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66090" indent="-457200">
              <a:buFont typeface="Arial" panose="020B0604020202020204" pitchFamily="34" charset="0"/>
              <a:buChar char="•"/>
            </a:pPr>
            <a:r>
              <a:rPr sz="1900" b="0">
                <a:solidFill>
                  <a:srgbClr val="0B2545"/>
                </a:solidFill>
                <a:latin typeface="Lucida Sans Unicode"/>
              </a:rPr>
              <a:t>Problem Statement: Intelligent Freight Forecasting for Vessel Chartering &amp; Bulk Cargo Procurement — India's East Coast</a:t>
            </a:r>
            <a:endParaRPr lang="en-US" sz="2800" spc="-50">
              <a:latin typeface="Lucida Sans Unicode"/>
              <a:cs typeface="Lucida Sans Unicod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4F605B-654B-19AE-940F-F93389A9456B}"/>
              </a:ext>
            </a:extLst>
          </p:cNvPr>
          <p:cNvSpPr txBox="1"/>
          <p:nvPr/>
        </p:nvSpPr>
        <p:spPr>
          <a:xfrm>
            <a:off x="4742614" y="2093909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88A90B-41AD-01A7-3C6A-A342AF58EEF2}"/>
              </a:ext>
            </a:extLst>
          </p:cNvPr>
          <p:cNvSpPr txBox="1"/>
          <p:nvPr/>
        </p:nvSpPr>
        <p:spPr>
          <a:xfrm>
            <a:off x="701113" y="3620000"/>
            <a:ext cx="4200000" cy="4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400" b="1">
                <a:solidFill>
                  <a:srgbClr val="0B2545"/>
                </a:solidFill>
                <a:latin typeface="Lucida Sans Unicode"/>
              </a:rPr>
              <a:t>Team: KAIROS</a:t>
            </a:r>
            <a:endParaRPr lang="en-US" sz="2800">
              <a:latin typeface="Lucida Sans Unicode"/>
              <a:ea typeface="Calibri"/>
              <a:cs typeface="Lucida Sans Unicod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86D58-ECF3-3140-650B-E9E472EF8D49}"/>
              </a:ext>
            </a:extLst>
          </p:cNvPr>
          <p:cNvSpPr txBox="1"/>
          <p:nvPr/>
        </p:nvSpPr>
        <p:spPr>
          <a:xfrm>
            <a:off x="700918" y="4230000"/>
            <a:ext cx="9200000" cy="4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500" b="0">
                <a:solidFill>
                  <a:srgbClr val="0B2545"/>
                </a:solidFill>
                <a:latin typeface="Lucida Sans Unicode"/>
              </a:rPr>
              <a:t>Aaditya Battin (Lead), Reva Bhatode, Ashlesha Tambe, Shweta Gagare, Vaishnavi Yadav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46284C-AC3D-4267-B0ED-F0E2F427FFC3}"/>
              </a:ext>
            </a:extLst>
          </p:cNvPr>
          <p:cNvSpPr txBox="1"/>
          <p:nvPr/>
        </p:nvSpPr>
        <p:spPr>
          <a:xfrm>
            <a:off x="701309" y="4830000"/>
            <a:ext cx="6200000" cy="4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B2545"/>
                </a:solidFill>
                <a:latin typeface="Lucida Sans Unicode"/>
              </a:rPr>
              <a:t>Pravara Rural Engineering College, Loni</a:t>
            </a:r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E4A9E2D7-091F-88AE-7250-7D89193F1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438EAA-E9ED-FCF3-41D6-ACAFD5B6699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41015" y="2000000"/>
            <a:ext cx="41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  <a:latin typeface="Calibri"/>
              </a:rPr>
              <a:t>Corridor intelligence for freight — sea to warehouse door</a:t>
            </a:r>
          </a:p>
        </p:txBody>
      </p:sp>
      <p:sp>
        <p:nvSpPr>
          <p:cNvPr id="34" name="Oval 33"/>
          <p:cNvSpPr/>
          <p:nvPr/>
        </p:nvSpPr>
        <p:spPr>
          <a:xfrm>
            <a:off x="10050000" y="400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hi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8000" y="4198000"/>
            <a:ext cx="504000" cy="50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12000000" y="400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nch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8000" y="4198000"/>
            <a:ext cx="504000" cy="5040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13850000" y="400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tru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48000" y="4198000"/>
            <a:ext cx="504000" cy="504000"/>
          </a:xfrm>
          <a:prstGeom prst="rect">
            <a:avLst/>
          </a:prstGeom>
        </p:spPr>
      </p:pic>
      <p:cxnSp>
        <p:nvCxnSpPr>
          <p:cNvPr id="40" name="Connector 39"/>
          <p:cNvCxnSpPr/>
          <p:nvPr/>
        </p:nvCxnSpPr>
        <p:spPr>
          <a:xfrm>
            <a:off x="10970000" y="4450000"/>
            <a:ext cx="1010000" cy="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920000" y="4450000"/>
            <a:ext cx="910000" cy="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950000" y="4990000"/>
            <a:ext cx="11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SEA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00000" y="4990000"/>
            <a:ext cx="11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50000" y="4990000"/>
            <a:ext cx="11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2545"/>
                </a:solidFill>
                <a:latin typeface="Calibri"/>
              </a:rPr>
              <a:t>LAND</a:t>
            </a:r>
          </a:p>
        </p:txBody>
      </p:sp>
    </p:spTree>
    <p:extLst>
      <p:ext uri="{BB962C8B-B14F-4D97-AF65-F5344CB8AC3E}">
        <p14:creationId xmlns:p14="http://schemas.microsoft.com/office/powerpoint/2010/main" val="14390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3B1F-E661-F308-3C5E-3C244400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055606-9669-47AE-D88C-7A4279448286}"/>
              </a:ext>
            </a:extLst>
          </p:cNvPr>
          <p:cNvSpPr/>
          <p:nvPr/>
        </p:nvSpPr>
        <p:spPr>
          <a:xfrm>
            <a:off x="-45572" y="-10289"/>
            <a:ext cx="15339515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rgbClr val="4472C4"/>
            </a:solidFill>
          </a:ln>
        </p:spPr>
        <p:txBody>
          <a:bodyPr lIns="91440" tIns="45720" rIns="91440" bIns="45720" anchor="t"/>
          <a:lstStyle/>
          <a:p>
            <a:r>
              <a:rPr lang="en-IN">
                <a:ea typeface="Calibri"/>
                <a:cs typeface="Calibri"/>
              </a:rPr>
              <a:t>Ik</a:t>
            </a:r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7D57F7-805C-0E0B-90CA-820C43A8D42B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80C2A42-8F37-FB17-4BEE-48FF813D4C72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90238CB-3BFF-B2EA-7373-6CFB5C4F7DCA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32A1F05-EA8A-F64B-FE9F-89EF92632DA3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BB3E5EC-0AA7-788F-B476-330AE71481D7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E41168-BBFF-BDF7-7891-88CC078641E8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C8C0CC9-01F5-9EA4-940F-9E539E74E139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B518D73-E3AD-D23B-F2DA-C472708C7D3E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49978B8-00B5-CAF2-D0E1-65B6E0150687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911CF4-BBD2-71FC-01B8-0316EC4370E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94559B8-503B-4E70-6CDD-AAA7C0BA1A1E}"/>
              </a:ext>
            </a:extLst>
          </p:cNvPr>
          <p:cNvSpPr txBox="1"/>
          <p:nvPr/>
        </p:nvSpPr>
        <p:spPr>
          <a:xfrm>
            <a:off x="4815729" y="1267488"/>
            <a:ext cx="632328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4800" b="1">
                <a:ea typeface="+mn-lt"/>
                <a:cs typeface="+mn-lt"/>
              </a:rPr>
              <a:t>PROBLEM STATEMENT</a:t>
            </a:r>
            <a:endParaRPr lang="en-US" sz="4800" b="1"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5BD88D-956A-319B-0184-66C389A1ED8C}"/>
              </a:ext>
            </a:extLst>
          </p:cNvPr>
          <p:cNvSpPr txBox="1"/>
          <p:nvPr/>
        </p:nvSpPr>
        <p:spPr>
          <a:xfrm>
            <a:off x="650114" y="2327990"/>
            <a:ext cx="9000000" cy="9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700">
                <a:solidFill>
                  <a:srgbClr val="0B2545"/>
                </a:solidFill>
                <a:latin typeface="Lucida Sans Unicode"/>
              </a:rPr>
              <a:t>Freight moves in silos: ships wait blind at ports, trucks return empty, and sensitive cargo goes unmonitored — because no system watches a shipment's whole journey.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30CCB9-8582-2587-393E-44ECCD811BB4}"/>
              </a:ext>
            </a:extLst>
          </p:cNvPr>
          <p:cNvSpPr txBox="1"/>
          <p:nvPr/>
        </p:nvSpPr>
        <p:spPr>
          <a:xfrm>
            <a:off x="649358" y="3354856"/>
            <a:ext cx="7300000" cy="82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500">
                <a:solidFill>
                  <a:srgbClr val="0B2545"/>
                </a:solidFill>
                <a:latin typeface="Lucida Sans Unicode"/>
              </a:rPr>
              <a:t>Who is affected: East Coast port operators, logistics &amp; trucking companies, and shippers of time-sensitive goods like vaccines and produce.</a:t>
            </a: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EB6E2-032A-B84C-B505-2978AB81D13F}"/>
              </a:ext>
            </a:extLst>
          </p:cNvPr>
          <p:cNvSpPr txBox="1"/>
          <p:nvPr/>
        </p:nvSpPr>
        <p:spPr>
          <a:xfrm>
            <a:off x="656277" y="4281466"/>
            <a:ext cx="7300000" cy="11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600">
                <a:solidFill>
                  <a:srgbClr val="0B2545"/>
                </a:solidFill>
                <a:latin typeface="Lucida Sans Unicode"/>
              </a:rPr>
              <a:t>Why it matters: empty return trips, ships idling for days awaiting berths, and undetected temperature breaches are direct, measurable costs — not abstract ones.</a:t>
            </a:r>
            <a:endParaRPr lang="en-US" sz="2800">
              <a:latin typeface="Lucida Sans Unicode"/>
              <a:cs typeface="Lucida Sans Unicode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7FB7554-4071-0F66-E741-9B7A8BB27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9DCBD-7F3B-FE37-4DFC-61966D021F4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350000" y="2750000"/>
            <a:ext cx="4550000" cy="11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06060" y="2974200"/>
            <a:ext cx="731600" cy="7316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nch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67012" y="3135152"/>
            <a:ext cx="409696" cy="4096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666880" y="2844400"/>
            <a:ext cx="3056120" cy="4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59">
                <a:solidFill>
                  <a:srgbClr val="0B2545"/>
                </a:solidFill>
                <a:latin typeface="Calibri"/>
              </a:rPr>
              <a:t>48–72 hrs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66880" y="3316400"/>
            <a:ext cx="3056120" cy="54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b="0" sz="1440">
                <a:solidFill>
                  <a:srgbClr val="1C7293"/>
                </a:solidFill>
                <a:latin typeface="Calibri"/>
              </a:rPr>
              <a:t>ahead is when port congestion could be predicted — today it isn't tracked at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50000" y="4060000"/>
            <a:ext cx="4550000" cy="11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06060" y="4284200"/>
            <a:ext cx="731600" cy="731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u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67012" y="4445152"/>
            <a:ext cx="409696" cy="4096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666880" y="4154400"/>
            <a:ext cx="3056120" cy="4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59">
                <a:solidFill>
                  <a:srgbClr val="0B2545"/>
                </a:solidFill>
                <a:latin typeface="Calibri"/>
              </a:rPr>
              <a:t>35–40%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66880" y="4626400"/>
            <a:ext cx="3056120" cy="54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b="0" sz="1440">
                <a:solidFill>
                  <a:srgbClr val="1C7293"/>
                </a:solidFill>
                <a:latin typeface="Calibri"/>
              </a:rPr>
              <a:t>of India's return truck trips currently run empty (backhaul)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50000" y="5370000"/>
            <a:ext cx="4550000" cy="11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06060" y="5594200"/>
            <a:ext cx="731600" cy="7316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nowflak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67012" y="5755152"/>
            <a:ext cx="409696" cy="4096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666880" y="5464400"/>
            <a:ext cx="3056120" cy="4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159">
                <a:solidFill>
                  <a:srgbClr val="0B2545"/>
                </a:solidFill>
                <a:latin typeface="Calibri"/>
              </a:rPr>
              <a:t>No warning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66880" y="5936400"/>
            <a:ext cx="3056120" cy="54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b="0" sz="1440">
                <a:solidFill>
                  <a:srgbClr val="1C7293"/>
                </a:solidFill>
                <a:latin typeface="Calibri"/>
              </a:rPr>
              <a:t>is how early most cold-chain temperature breaches are caught today</a:t>
            </a:r>
          </a:p>
        </p:txBody>
      </p:sp>
    </p:spTree>
    <p:extLst>
      <p:ext uri="{BB962C8B-B14F-4D97-AF65-F5344CB8AC3E}">
        <p14:creationId xmlns:p14="http://schemas.microsoft.com/office/powerpoint/2010/main" val="102459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6B7E-06F5-E51F-4871-88A10183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24BB26-0891-78EE-C8BC-E9FEFBDD9990}"/>
              </a:ext>
            </a:extLst>
          </p:cNvPr>
          <p:cNvSpPr/>
          <p:nvPr/>
        </p:nvSpPr>
        <p:spPr>
          <a:xfrm>
            <a:off x="-13504" y="-24505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r>
              <a:rPr lang="en-IN">
                <a:ea typeface="Calibri"/>
                <a:cs typeface="Calibri"/>
              </a:rPr>
              <a:t>p</a:t>
            </a:r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8786C91-DCD6-6D5B-92F0-9A7B11B23875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349A3FE-BDBE-A355-C865-E8D6607AE01B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0F6CA09-658E-0E9F-9BDA-B92587006984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932D5CF-47C6-5D29-9275-FE1D0FB9C66A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6474BA3-B464-6BCC-0321-AEF043A621E0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142D403-D739-A858-0A60-02D8E7E84DA5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82538EE-4992-7D54-869C-7EA3DFD5F4A5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D10DD32-579E-A4F1-3F7C-1822299C400A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4947206-7298-A9CE-F4F3-5BA7EDF56D65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8B5ADB-8008-9EF8-FDB4-5E16974F1AA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489" y="7249056"/>
            <a:ext cx="2667000" cy="15005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A05339-E2B2-7CE9-862E-9E240AE9B508}"/>
              </a:ext>
            </a:extLst>
          </p:cNvPr>
          <p:cNvSpPr txBox="1"/>
          <p:nvPr/>
        </p:nvSpPr>
        <p:spPr>
          <a:xfrm>
            <a:off x="4763138" y="1249765"/>
            <a:ext cx="6499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Calibri"/>
                <a:cs typeface="Calibri"/>
              </a:rPr>
              <a:t>PROPOSED 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C4C6B5-CC56-4731-240A-106D774816E3}"/>
              </a:ext>
            </a:extLst>
          </p:cNvPr>
          <p:cNvSpPr txBox="1"/>
          <p:nvPr/>
        </p:nvSpPr>
        <p:spPr>
          <a:xfrm>
            <a:off x="1322102" y="2681498"/>
            <a:ext cx="32823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1739B-D87B-33A9-111B-4CC395136CD6}"/>
              </a:ext>
            </a:extLst>
          </p:cNvPr>
          <p:cNvSpPr txBox="1"/>
          <p:nvPr/>
        </p:nvSpPr>
        <p:spPr>
          <a:xfrm>
            <a:off x="1323528" y="3741127"/>
            <a:ext cx="88176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B0199-93C4-664B-3F8F-38E5511EDF78}"/>
              </a:ext>
            </a:extLst>
          </p:cNvPr>
          <p:cNvSpPr txBox="1"/>
          <p:nvPr/>
        </p:nvSpPr>
        <p:spPr>
          <a:xfrm>
            <a:off x="1322701" y="4657697"/>
            <a:ext cx="49896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6244F42D-D9C1-494D-D53A-DF5EA6A06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13E79AD-79EC-243E-14D3-F89FD7E0E4F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0000" y="2500000"/>
            <a:ext cx="13500000" cy="8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b="1" sz="1700">
                <a:solidFill>
                  <a:srgbClr val="0B2545"/>
                </a:solidFill>
                <a:latin typeface="Calibri"/>
              </a:rPr>
              <a:t>Our idea:  </a:t>
            </a:r>
            <a:r>
              <a:rPr b="0" sz="1700">
                <a:solidFill>
                  <a:srgbClr val="0B2545"/>
                </a:solidFill>
                <a:latin typeface="Calibri"/>
              </a:rPr>
              <a:t>WAYPOINT — a shared route-graph of ports, warehouses and roads that predicts port congestion, times vessel charters, matches empty trucks, and flags cold-chain risk, all from one live map.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3420000"/>
            <a:ext cx="1350000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b="1" sz="1700">
                <a:solidFill>
                  <a:srgbClr val="0B2545"/>
                </a:solidFill>
                <a:latin typeface="Calibri"/>
              </a:rPr>
              <a:t>How it solves it:  </a:t>
            </a:r>
            <a:r>
              <a:rPr b="0" sz="1700">
                <a:solidFill>
                  <a:srgbClr val="0B2545"/>
                </a:solidFill>
                <a:latin typeface="Calibri"/>
              </a:rPr>
              <a:t>One graph model connects sea, port and land — so a congestion prediction at a port automatically surfaces the trucks it's about to free up, and flags any sensitive cargo riding on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00" y="4270000"/>
            <a:ext cx="1350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b="1" sz="1700">
                <a:solidFill>
                  <a:srgbClr val="0B2545"/>
                </a:solidFill>
                <a:latin typeface="Calibri"/>
              </a:rPr>
              <a:t>Why it matters:  </a:t>
            </a:r>
            <a:r>
              <a:rPr b="0" sz="1700">
                <a:solidFill>
                  <a:srgbClr val="0B2545"/>
                </a:solidFill>
                <a:latin typeface="Calibri"/>
              </a:rPr>
              <a:t>One dashboard instead of five logins — lower charter cost, fewer empty-truck miles, shorter port dwell time, earlier cold-chain 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000" y="4880000"/>
            <a:ext cx="1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Vessel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Timing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0000" y="4880000"/>
            <a:ext cx="1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Port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Congestion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0000" y="4880000"/>
            <a:ext cx="1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Backhaul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50000" y="4880000"/>
            <a:ext cx="1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Cold-Chain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Alerts</a:t>
            </a:r>
          </a:p>
        </p:txBody>
      </p:sp>
      <p:sp>
        <p:nvSpPr>
          <p:cNvPr id="38" name="Oval 37"/>
          <p:cNvSpPr/>
          <p:nvPr/>
        </p:nvSpPr>
        <p:spPr>
          <a:xfrm>
            <a:off x="1270000" y="5320000"/>
            <a:ext cx="760000" cy="76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hi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7200" y="5487200"/>
            <a:ext cx="425600" cy="42560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5320000" y="5320000"/>
            <a:ext cx="760000" cy="76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nch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7200" y="5487200"/>
            <a:ext cx="425600" cy="425600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9370000" y="5320000"/>
            <a:ext cx="760000" cy="76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tru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7200" y="5487200"/>
            <a:ext cx="425600" cy="425600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13420000" y="5320000"/>
            <a:ext cx="760000" cy="76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nowflak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587200" y="5487200"/>
            <a:ext cx="425600" cy="425600"/>
          </a:xfrm>
          <a:prstGeom prst="rect">
            <a:avLst/>
          </a:prstGeom>
        </p:spPr>
      </p:pic>
      <p:cxnSp>
        <p:nvCxnSpPr>
          <p:cNvPr id="46" name="Connector 45"/>
          <p:cNvCxnSpPr/>
          <p:nvPr/>
        </p:nvCxnSpPr>
        <p:spPr>
          <a:xfrm>
            <a:off x="1650000" y="6095000"/>
            <a:ext cx="0" cy="155000"/>
          </a:xfrm>
          <a:prstGeom prst="line">
            <a:avLst/>
          </a:prstGeom>
          <a:ln w="2540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00000" y="6095000"/>
            <a:ext cx="0" cy="155000"/>
          </a:xfrm>
          <a:prstGeom prst="line">
            <a:avLst/>
          </a:prstGeom>
          <a:ln w="2540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750000" y="6095000"/>
            <a:ext cx="0" cy="155000"/>
          </a:xfrm>
          <a:prstGeom prst="line">
            <a:avLst/>
          </a:prstGeom>
          <a:ln w="2540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800000" y="6095000"/>
            <a:ext cx="0" cy="155000"/>
          </a:xfrm>
          <a:prstGeom prst="line">
            <a:avLst/>
          </a:prstGeom>
          <a:ln w="2540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50000" y="6250000"/>
            <a:ext cx="13340000" cy="500000"/>
          </a:xfrm>
          <a:prstGeom prst="roundRect">
            <a:avLst>
              <a:gd name="adj" fmla="val 2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Shared Route-Graph — one model of ports, warehouses &amp; roads</a:t>
            </a:r>
          </a:p>
        </p:txBody>
      </p:sp>
    </p:spTree>
    <p:extLst>
      <p:ext uri="{BB962C8B-B14F-4D97-AF65-F5344CB8AC3E}">
        <p14:creationId xmlns:p14="http://schemas.microsoft.com/office/powerpoint/2010/main" val="369115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52E9-4D9C-C388-E192-FE8DB925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2E047B0-0F8A-B76C-59E2-12448A5FBA9A}"/>
              </a:ext>
            </a:extLst>
          </p:cNvPr>
          <p:cNvSpPr/>
          <p:nvPr/>
        </p:nvSpPr>
        <p:spPr>
          <a:xfrm>
            <a:off x="-13504" y="-24505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8C1C1E-897C-3B66-B887-CD4624B01131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B4953E9-258B-B3A7-6D2A-A20BB5C70B6C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B9E5335-80F1-37DA-CD55-BFCA79272CF1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1AD9CEB-E365-0FF7-466E-C0E52AD14369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F83E512-48A2-1190-FE34-B1386A49353D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F775CA0-30DD-FDC0-B0FB-AFCEBDCB773A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275B30E-9930-404D-AC7B-B996A865B132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C4FDDB5-040F-F428-6512-985550DEA17E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6B28B65-112F-ADC9-B06D-49D1660C98F8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A9B976-0EBE-E863-9F65-BC229A0D334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490" y="7249056"/>
            <a:ext cx="2667000" cy="15005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C92D13-C020-362B-090D-27D415B9530E}"/>
              </a:ext>
            </a:extLst>
          </p:cNvPr>
          <p:cNvSpPr txBox="1"/>
          <p:nvPr/>
        </p:nvSpPr>
        <p:spPr>
          <a:xfrm>
            <a:off x="4556204" y="1441937"/>
            <a:ext cx="82775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SYSTEM ARCHITECTURE</a:t>
            </a:r>
            <a:endParaRPr lang="en-US" sz="4800" b="1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BB522D-B21E-3C64-6CD5-3FEC70E78268}"/>
              </a:ext>
            </a:extLst>
          </p:cNvPr>
          <p:cNvSpPr txBox="1"/>
          <p:nvPr/>
        </p:nvSpPr>
        <p:spPr>
          <a:xfrm>
            <a:off x="5179500" y="334005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2A1F14-F7B0-165E-F253-D4EC7063CE4E}"/>
              </a:ext>
            </a:extLst>
          </p:cNvPr>
          <p:cNvSpPr txBox="1"/>
          <p:nvPr/>
        </p:nvSpPr>
        <p:spPr>
          <a:xfrm>
            <a:off x="8132299" y="404194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F5B03E-0F42-330A-0988-FBFD9506E797}"/>
              </a:ext>
            </a:extLst>
          </p:cNvPr>
          <p:cNvSpPr txBox="1"/>
          <p:nvPr/>
        </p:nvSpPr>
        <p:spPr>
          <a:xfrm>
            <a:off x="3896727" y="3412661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5F8642-3895-DD20-B9EB-86450AD3AE9A}"/>
              </a:ext>
            </a:extLst>
          </p:cNvPr>
          <p:cNvSpPr txBox="1"/>
          <p:nvPr/>
        </p:nvSpPr>
        <p:spPr>
          <a:xfrm>
            <a:off x="900000" y="2320000"/>
            <a:ext cx="13500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700" b="0">
                <a:solidFill>
                  <a:srgbClr val="1C7293"/>
                </a:solidFill>
                <a:latin typeface="Lucida Sans Unicode"/>
              </a:rPr>
              <a:t>From raw public data to four live decisions — in one pipeline.</a:t>
            </a: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CFE661-D6C3-3B18-5DCE-34BAFF65A141}"/>
              </a:ext>
            </a:extLst>
          </p:cNvPr>
          <p:cNvSpPr txBox="1"/>
          <p:nvPr/>
        </p:nvSpPr>
        <p:spPr>
          <a:xfrm>
            <a:off x="926748" y="3698866"/>
            <a:ext cx="112335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ea typeface="Calibri"/>
              <a:cs typeface="Lucida Sans Unicode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D3F3B-EDED-FC9D-B014-4C998EAE159E}"/>
              </a:ext>
            </a:extLst>
          </p:cNvPr>
          <p:cNvSpPr txBox="1"/>
          <p:nvPr/>
        </p:nvSpPr>
        <p:spPr>
          <a:xfrm>
            <a:off x="985657" y="4693748"/>
            <a:ext cx="837608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800">
              <a:latin typeface="Lucida Sans Unicode"/>
              <a:ea typeface="Calibri"/>
              <a:cs typeface="Lucida Sans Unicode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E63EAF9-2631-945A-E4C7-BCC355C7E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D599EF-195D-E1AA-5963-6ADAD031A4A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620000" y="2820000"/>
            <a:ext cx="10000000" cy="600000"/>
          </a:xfrm>
          <a:prstGeom prst="roundRect">
            <a:avLst>
              <a:gd name="adj" fmla="val 14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B2545"/>
                </a:solidFill>
                <a:latin typeface="Calibri"/>
              </a:rPr>
              <a:t>Public &amp; Partner Data — AIS ship tracking · port infrastructure specs · load-board feeds · BLE temperature logs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20000" y="3420000"/>
            <a:ext cx="0" cy="20000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20000" y="3620000"/>
            <a:ext cx="8000000" cy="650000"/>
          </a:xfrm>
          <a:prstGeom prst="roundRect">
            <a:avLst>
              <a:gd name="adj" fmla="val 1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Shared Route-Graph Engine — nodes = ports &amp; warehouses, edges = sea &amp; land legs with time windows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20000" y="4270000"/>
            <a:ext cx="0" cy="410000"/>
          </a:xfrm>
          <a:prstGeom prst="line">
            <a:avLst/>
          </a:prstGeom>
          <a:ln w="2222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20000" y="4270000"/>
            <a:ext cx="0" cy="410000"/>
          </a:xfrm>
          <a:prstGeom prst="line">
            <a:avLst/>
          </a:prstGeom>
          <a:ln w="2222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20000" y="4270000"/>
            <a:ext cx="0" cy="410000"/>
          </a:xfrm>
          <a:prstGeom prst="line">
            <a:avLst/>
          </a:prstGeom>
          <a:ln w="2222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420000" y="4270000"/>
            <a:ext cx="0" cy="410000"/>
          </a:xfrm>
          <a:prstGeom prst="line">
            <a:avLst/>
          </a:prstGeom>
          <a:ln w="2222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320000" y="468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68200" y="4828200"/>
            <a:ext cx="483600" cy="48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hi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4592" y="4934592"/>
            <a:ext cx="270816" cy="27081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61000" y="4680000"/>
            <a:ext cx="214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Vessel Timing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0000" y="468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8200" y="4828200"/>
            <a:ext cx="483600" cy="48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nch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74592" y="4934592"/>
            <a:ext cx="270816" cy="27081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261000" y="4680000"/>
            <a:ext cx="214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Port Congestion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0000" y="468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68200" y="4828200"/>
            <a:ext cx="483600" cy="48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ru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4592" y="4934592"/>
            <a:ext cx="270816" cy="27081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461000" y="4680000"/>
            <a:ext cx="214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Backhaul Matching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20000" y="468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068200" y="4828200"/>
            <a:ext cx="483600" cy="48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nowflak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74592" y="4934592"/>
            <a:ext cx="270816" cy="27081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661000" y="4680000"/>
            <a:ext cx="214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Cold-Chain Alerts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820000" y="5460000"/>
            <a:ext cx="4800000" cy="30000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20000" y="5460000"/>
            <a:ext cx="1600000" cy="30000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620000" y="5460000"/>
            <a:ext cx="1600000" cy="30000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620000" y="5460000"/>
            <a:ext cx="4800000" cy="300000"/>
          </a:xfrm>
          <a:prstGeom prst="line">
            <a:avLst/>
          </a:prstGeom>
          <a:ln w="1905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120000" y="5760000"/>
            <a:ext cx="7000000" cy="6200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One Map Dashboard — congestion, matches &amp; alerts together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20000" y="6460000"/>
            <a:ext cx="8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1C7293"/>
                </a:solidFill>
                <a:latin typeface="Calibri"/>
              </a:rPr>
              <a:t>used directly by port, logistics &amp; fleet managers</a:t>
            </a:r>
          </a:p>
        </p:txBody>
      </p:sp>
    </p:spTree>
    <p:extLst>
      <p:ext uri="{BB962C8B-B14F-4D97-AF65-F5344CB8AC3E}">
        <p14:creationId xmlns:p14="http://schemas.microsoft.com/office/powerpoint/2010/main" val="314497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53C8-A09E-C9F1-CF30-4904DA91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44F8CA-8243-4B84-3AF1-BBEABBA8133E}"/>
              </a:ext>
            </a:extLst>
          </p:cNvPr>
          <p:cNvSpPr/>
          <p:nvPr/>
        </p:nvSpPr>
        <p:spPr>
          <a:xfrm>
            <a:off x="-13504" y="-24505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2DC069F-B78E-CE08-10F3-EB647B0444E3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C47E17-A880-7DD5-EE48-59FC7BF60B1E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657589E-987C-D501-2136-87399F2C5E4A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5B31F15-6446-FE96-86FA-91B84A88D029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EFF399-3BBA-C0C7-3D66-FBC993D72815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4F5268A-62D6-AF59-7B6D-9C7642926B21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AA998EA-D572-5BE5-497B-8B206375B156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A21DB36-454E-5620-DDCB-2CBEE42E75D9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AD76E6C-9EC1-508C-1B4C-86C77A61FA4E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06F41D-7EF8-B748-9BFB-72DA60F7A3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ED8C73-7FEF-945D-0E25-C49057459486}"/>
              </a:ext>
            </a:extLst>
          </p:cNvPr>
          <p:cNvSpPr txBox="1"/>
          <p:nvPr/>
        </p:nvSpPr>
        <p:spPr>
          <a:xfrm>
            <a:off x="5004878" y="1332179"/>
            <a:ext cx="635613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/>
              <a:t>TECHNOLOGY STACK</a:t>
            </a:r>
            <a:endParaRPr lang="en-US" sz="4800" b="1">
              <a:ea typeface="Calibri"/>
              <a:cs typeface="Calibri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0466C0E-FAD2-65B6-CAFD-D749B31C3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3F8197D-189F-9A53-0CC7-91D18AB9CF5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2217D4-84BA-CDB8-BFA9-656ED8AAD372}"/>
              </a:ext>
            </a:extLst>
          </p:cNvPr>
          <p:cNvSpPr txBox="1"/>
          <p:nvPr/>
        </p:nvSpPr>
        <p:spPr>
          <a:xfrm>
            <a:off x="1085808" y="2432481"/>
            <a:ext cx="68816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7049C-9E58-E3FA-EA99-035A7FCA9E00}"/>
              </a:ext>
            </a:extLst>
          </p:cNvPr>
          <p:cNvSpPr txBox="1"/>
          <p:nvPr/>
        </p:nvSpPr>
        <p:spPr>
          <a:xfrm>
            <a:off x="1086668" y="3290888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D2368-7E27-8162-27D5-C9A01E9F74C7}"/>
              </a:ext>
            </a:extLst>
          </p:cNvPr>
          <p:cNvSpPr txBox="1"/>
          <p:nvPr/>
        </p:nvSpPr>
        <p:spPr>
          <a:xfrm>
            <a:off x="1091042" y="4022116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9D3DC-AD19-B0DA-467A-3AB573949A3F}"/>
              </a:ext>
            </a:extLst>
          </p:cNvPr>
          <p:cNvSpPr txBox="1"/>
          <p:nvPr/>
        </p:nvSpPr>
        <p:spPr>
          <a:xfrm>
            <a:off x="1085981" y="477413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C4FF9-37E7-6102-4A35-BC95F50AFE5A}"/>
              </a:ext>
            </a:extLst>
          </p:cNvPr>
          <p:cNvSpPr txBox="1"/>
          <p:nvPr/>
        </p:nvSpPr>
        <p:spPr>
          <a:xfrm>
            <a:off x="1078373" y="5479511"/>
            <a:ext cx="45989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000" y="2180000"/>
            <a:ext cx="120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Simple, provable tools chosen to ship in 24 hours — not a black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" y="2780000"/>
            <a:ext cx="13400000" cy="11500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0000" y="2780000"/>
            <a:ext cx="160800" cy="115000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0000" y="2780000"/>
            <a:ext cx="3618000" cy="11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2100">
                <a:solidFill>
                  <a:srgbClr val="0B2545"/>
                </a:solidFill>
                <a:latin typeface="Calibri"/>
              </a:rPr>
              <a:t>FRONTEND</a:t>
            </a:r>
          </a:p>
          <a:p>
            <a:pPr>
              <a:lnSpc>
                <a:spcPct val="105000"/>
              </a:lnSpc>
            </a:pPr>
            <a:r>
              <a:rPr b="0" sz="1250">
                <a:solidFill>
                  <a:srgbClr val="1C7293"/>
                </a:solidFill>
                <a:latin typeface="Calibri"/>
              </a:rPr>
              <a:t>Live map + alerts
dashboard</a:t>
            </a:r>
          </a:p>
        </p:txBody>
      </p:sp>
      <p:sp>
        <p:nvSpPr>
          <p:cNvPr id="30" name="Oval 29"/>
          <p:cNvSpPr/>
          <p:nvPr/>
        </p:nvSpPr>
        <p:spPr>
          <a:xfrm>
            <a:off x="7313500" y="2987000"/>
            <a:ext cx="506000" cy="506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eafle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4820" y="3098320"/>
            <a:ext cx="283360" cy="2833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56000" y="3562000"/>
            <a:ext cx="42210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Leaflet.js</a:t>
            </a:r>
          </a:p>
        </p:txBody>
      </p:sp>
      <p:sp>
        <p:nvSpPr>
          <p:cNvPr id="33" name="Oval 32"/>
          <p:cNvSpPr/>
          <p:nvPr/>
        </p:nvSpPr>
        <p:spPr>
          <a:xfrm>
            <a:off x="11534500" y="2987000"/>
            <a:ext cx="506000" cy="506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artj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45820" y="3098320"/>
            <a:ext cx="283360" cy="283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77000" y="3562000"/>
            <a:ext cx="42210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Chart.js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00000" y="3930000"/>
            <a:ext cx="0" cy="20000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0000" y="4130000"/>
            <a:ext cx="13400000" cy="11500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0000" y="4130000"/>
            <a:ext cx="160800" cy="11500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0000" y="4130000"/>
            <a:ext cx="3618000" cy="11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2100">
                <a:solidFill>
                  <a:srgbClr val="0B2545"/>
                </a:solidFill>
                <a:latin typeface="Calibri"/>
              </a:rPr>
              <a:t>BACKEND</a:t>
            </a:r>
          </a:p>
          <a:p>
            <a:pPr>
              <a:lnSpc>
                <a:spcPct val="105000"/>
              </a:lnSpc>
            </a:pPr>
            <a:r>
              <a:rPr b="0" sz="1250">
                <a:solidFill>
                  <a:srgbClr val="1C7293"/>
                </a:solidFill>
                <a:latin typeface="Calibri"/>
              </a:rPr>
              <a:t>Route-graph engine +
matching / prediction</a:t>
            </a:r>
          </a:p>
        </p:txBody>
      </p:sp>
      <p:sp>
        <p:nvSpPr>
          <p:cNvPr id="40" name="Oval 39"/>
          <p:cNvSpPr/>
          <p:nvPr/>
        </p:nvSpPr>
        <p:spPr>
          <a:xfrm>
            <a:off x="6258250" y="4337000"/>
            <a:ext cx="506000" cy="506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yth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9570" y="4448320"/>
            <a:ext cx="283360" cy="2833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56000" y="491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Python</a:t>
            </a:r>
          </a:p>
        </p:txBody>
      </p:sp>
      <p:sp>
        <p:nvSpPr>
          <p:cNvPr id="43" name="Oval 42"/>
          <p:cNvSpPr/>
          <p:nvPr/>
        </p:nvSpPr>
        <p:spPr>
          <a:xfrm>
            <a:off x="8368750" y="4337000"/>
            <a:ext cx="506000" cy="506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astap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80070" y="4448320"/>
            <a:ext cx="283360" cy="2833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566500" y="491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FastAPI</a:t>
            </a:r>
          </a:p>
        </p:txBody>
      </p:sp>
      <p:sp>
        <p:nvSpPr>
          <p:cNvPr id="46" name="Oval 45"/>
          <p:cNvSpPr/>
          <p:nvPr/>
        </p:nvSpPr>
        <p:spPr>
          <a:xfrm>
            <a:off x="10479250" y="4337000"/>
            <a:ext cx="506000" cy="506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network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0570" y="4448320"/>
            <a:ext cx="283360" cy="2833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77000" y="491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NetworkX</a:t>
            </a:r>
          </a:p>
        </p:txBody>
      </p:sp>
      <p:sp>
        <p:nvSpPr>
          <p:cNvPr id="49" name="Oval 48"/>
          <p:cNvSpPr/>
          <p:nvPr/>
        </p:nvSpPr>
        <p:spPr>
          <a:xfrm>
            <a:off x="12589750" y="4337000"/>
            <a:ext cx="506000" cy="506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nda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1070" y="4448320"/>
            <a:ext cx="283360" cy="2833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787500" y="491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pandas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00000" y="5280000"/>
            <a:ext cx="0" cy="20000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00000" y="5480000"/>
            <a:ext cx="13400000" cy="1150000"/>
          </a:xfrm>
          <a:prstGeom prst="roundRect">
            <a:avLst>
              <a:gd name="adj" fmla="val 10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0000" y="5480000"/>
            <a:ext cx="160800" cy="115000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70000" y="5480000"/>
            <a:ext cx="3618000" cy="11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1" sz="2100">
                <a:solidFill>
                  <a:srgbClr val="0B2545"/>
                </a:solidFill>
                <a:latin typeface="Calibri"/>
              </a:rPr>
              <a:t>DATA</a:t>
            </a:r>
          </a:p>
          <a:p>
            <a:pPr>
              <a:lnSpc>
                <a:spcPct val="105000"/>
              </a:lnSpc>
            </a:pPr>
            <a:r>
              <a:rPr b="0" sz="1250">
                <a:solidFill>
                  <a:srgbClr val="1C7293"/>
                </a:solidFill>
                <a:latin typeface="Calibri"/>
              </a:rPr>
              <a:t>Public &amp; partner
feeds</a:t>
            </a:r>
          </a:p>
        </p:txBody>
      </p:sp>
      <p:sp>
        <p:nvSpPr>
          <p:cNvPr id="56" name="Oval 55"/>
          <p:cNvSpPr/>
          <p:nvPr/>
        </p:nvSpPr>
        <p:spPr>
          <a:xfrm>
            <a:off x="6258250" y="5687000"/>
            <a:ext cx="506000" cy="506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atelli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9570" y="5798320"/>
            <a:ext cx="283360" cy="2833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456000" y="626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AIS Feed</a:t>
            </a:r>
          </a:p>
        </p:txBody>
      </p:sp>
      <p:sp>
        <p:nvSpPr>
          <p:cNvPr id="59" name="Oval 58"/>
          <p:cNvSpPr/>
          <p:nvPr/>
        </p:nvSpPr>
        <p:spPr>
          <a:xfrm>
            <a:off x="8368750" y="5687000"/>
            <a:ext cx="506000" cy="506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boxe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80070" y="5798320"/>
            <a:ext cx="283360" cy="2833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566500" y="626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Port Infra</a:t>
            </a:r>
          </a:p>
        </p:txBody>
      </p:sp>
      <p:sp>
        <p:nvSpPr>
          <p:cNvPr id="62" name="Oval 61"/>
          <p:cNvSpPr/>
          <p:nvPr/>
        </p:nvSpPr>
        <p:spPr>
          <a:xfrm>
            <a:off x="10479250" y="5687000"/>
            <a:ext cx="506000" cy="506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truck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90570" y="5798320"/>
            <a:ext cx="283360" cy="2833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677000" y="626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Load Boards</a:t>
            </a:r>
          </a:p>
        </p:txBody>
      </p:sp>
      <p:sp>
        <p:nvSpPr>
          <p:cNvPr id="65" name="Oval 64"/>
          <p:cNvSpPr/>
          <p:nvPr/>
        </p:nvSpPr>
        <p:spPr>
          <a:xfrm>
            <a:off x="12589750" y="5687000"/>
            <a:ext cx="506000" cy="506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thermomet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01070" y="5798320"/>
            <a:ext cx="283360" cy="2833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787500" y="6262000"/>
            <a:ext cx="2110500" cy="32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26552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F988-B9AD-45CB-0F5C-6812B282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0E14D6-1245-0D10-7D9F-532DBB71F850}"/>
              </a:ext>
            </a:extLst>
          </p:cNvPr>
          <p:cNvSpPr/>
          <p:nvPr/>
        </p:nvSpPr>
        <p:spPr>
          <a:xfrm>
            <a:off x="-38481" y="30112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D813CCF-AAD7-307C-B2D6-90605039E730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D32C03-6161-1FE9-9140-8DF68EBBBE68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6CFE5C6-5005-7C02-BFC1-F60AD061A32E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24C870A-B981-5A43-B7E7-6A9E3D806452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BAB2E72-81E9-8B1E-92EC-223E5EA95960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B4B3737-485D-90B8-C771-D758BCDA397C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25C77E5-D229-B104-D2E9-5427FE62ED22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1E2259-1A6F-5E7F-526F-FFD13F3AA6AD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F8A9195-9619-F65F-E049-E2DACA82C8FE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53E128-AAF3-4505-45A8-AC33A5B45BB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B04B1CE-C622-6503-FF97-29BC45B4D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60B1EB-1D7D-0319-C886-1C362FB74B0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B715B9-AFF3-5A6C-DA90-6D0C9B012065}"/>
              </a:ext>
            </a:extLst>
          </p:cNvPr>
          <p:cNvSpPr txBox="1"/>
          <p:nvPr/>
        </p:nvSpPr>
        <p:spPr>
          <a:xfrm>
            <a:off x="4911751" y="1506801"/>
            <a:ext cx="581419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UNIQUE FEATURES</a:t>
            </a:r>
            <a:endParaRPr lang="en-US" sz="4800" b="1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5B2E99-7D87-BEE6-B39F-ED9D247735EF}"/>
              </a:ext>
            </a:extLst>
          </p:cNvPr>
          <p:cNvSpPr txBox="1"/>
          <p:nvPr/>
        </p:nvSpPr>
        <p:spPr>
          <a:xfrm>
            <a:off x="1334934" y="2697030"/>
            <a:ext cx="9500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sz="2400" b="1">
                <a:solidFill>
                  <a:srgbClr val="0B2545"/>
                </a:solidFill>
                <a:latin typeface="Lucida Sans Unicode"/>
              </a:rPr>
              <a:t>What makes WAYPOINT different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67AA4-A4C6-63DF-4300-7641134527D6}"/>
              </a:ext>
            </a:extLst>
          </p:cNvPr>
          <p:cNvSpPr txBox="1"/>
          <p:nvPr/>
        </p:nvSpPr>
        <p:spPr>
          <a:xfrm>
            <a:off x="1340854" y="3532886"/>
            <a:ext cx="13500000" cy="75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600">
                <a:solidFill>
                  <a:srgbClr val="0B2545"/>
                </a:solidFill>
                <a:latin typeface="Lucida Sans Unicode"/>
              </a:rPr>
              <a:t>Existing players — BlackBuck, Rivigo, Controlant, Navis — each solve one leg in a closed silo. WAYPOINT is the interoperability layer connecting all of them using data that's already public.</a:t>
            </a: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0000" y="4550000"/>
            <a:ext cx="6700000" cy="11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0" y="4768500"/>
            <a:ext cx="713000" cy="713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uzz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6410" y="4925360"/>
            <a:ext cx="399280" cy="3992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17750" y="4688000"/>
            <a:ext cx="5245250" cy="87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b="1" sz="1300">
                <a:solidFill>
                  <a:srgbClr val="0B2545"/>
                </a:solidFill>
                <a:latin typeface="Calibri"/>
              </a:rPr>
              <a:t>One graph, four outcomes: </a:t>
            </a:r>
            <a:r>
              <a:rPr b="0" sz="1300">
                <a:solidFill>
                  <a:srgbClr val="0B2545"/>
                </a:solidFill>
                <a:latin typeface="Calibri"/>
              </a:rPr>
              <a:t>timing, congestion, matching and alerts all read the same live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0000" y="4550000"/>
            <a:ext cx="6700000" cy="11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550" y="4768500"/>
            <a:ext cx="713000" cy="713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lob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6410" y="4925360"/>
            <a:ext cx="399280" cy="3992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17750" y="4688000"/>
            <a:ext cx="5245250" cy="87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b="1" sz="1300">
                <a:solidFill>
                  <a:srgbClr val="0B2545"/>
                </a:solidFill>
                <a:latin typeface="Calibri"/>
              </a:rPr>
              <a:t>Public data only: </a:t>
            </a:r>
            <a:r>
              <a:rPr b="0" sz="1300">
                <a:solidFill>
                  <a:srgbClr val="0B2545"/>
                </a:solidFill>
                <a:latin typeface="Calibri"/>
              </a:rPr>
              <a:t>no closed marketplace to join — works across platforms that never talk to each other.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0000" y="5950000"/>
            <a:ext cx="6700000" cy="11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9550" y="6168500"/>
            <a:ext cx="713000" cy="713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ou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410" y="6325360"/>
            <a:ext cx="399280" cy="399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017750" y="6088000"/>
            <a:ext cx="5245250" cy="87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b="1" sz="1300">
                <a:solidFill>
                  <a:srgbClr val="0B2545"/>
                </a:solidFill>
                <a:latin typeface="Calibri"/>
              </a:rPr>
              <a:t>Cross-modal by design: </a:t>
            </a:r>
            <a:r>
              <a:rPr b="0" sz="1300">
                <a:solidFill>
                  <a:srgbClr val="0B2545"/>
                </a:solidFill>
                <a:latin typeface="Calibri"/>
              </a:rPr>
              <a:t>sea, port and land legs sit in one view, not three separate tools.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0000" y="5950000"/>
            <a:ext cx="6700000" cy="11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19550" y="6168500"/>
            <a:ext cx="713000" cy="713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6410" y="6325360"/>
            <a:ext cx="399280" cy="399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17750" y="6088000"/>
            <a:ext cx="5245250" cy="87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2000"/>
              </a:lnSpc>
            </a:pPr>
            <a:r>
              <a:rPr b="1" sz="1300">
                <a:solidFill>
                  <a:srgbClr val="0B2545"/>
                </a:solidFill>
                <a:latin typeface="Calibri"/>
              </a:rPr>
              <a:t>Explainable, not a black box: </a:t>
            </a:r>
            <a:r>
              <a:rPr b="0" sz="1300">
                <a:solidFill>
                  <a:srgbClr val="0B2545"/>
                </a:solidFill>
                <a:latin typeface="Calibri"/>
              </a:rPr>
              <a:t>graph search and bipartite matching — judges (and operators) can see why.</a:t>
            </a:r>
          </a:p>
        </p:txBody>
      </p:sp>
    </p:spTree>
    <p:extLst>
      <p:ext uri="{BB962C8B-B14F-4D97-AF65-F5344CB8AC3E}">
        <p14:creationId xmlns:p14="http://schemas.microsoft.com/office/powerpoint/2010/main" val="223716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075B-E624-E066-10EC-638B4DFC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209661-635A-A832-F101-F9C389F6BA9A}"/>
              </a:ext>
            </a:extLst>
          </p:cNvPr>
          <p:cNvSpPr/>
          <p:nvPr/>
        </p:nvSpPr>
        <p:spPr>
          <a:xfrm>
            <a:off x="0" y="30112"/>
            <a:ext cx="15240000" cy="85725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0" y="0"/>
                </a:moveTo>
                <a:lnTo>
                  <a:pt x="15240000" y="0"/>
                </a:lnTo>
                <a:lnTo>
                  <a:pt x="15240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62C138-7276-465C-C2B5-A2EABA0AE211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F4FC4C4-A2FB-C0FE-CA1A-5054DF786A47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C1F1844-FAE6-DCB1-E948-032F2EFD0ADC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1FD2F37-8F25-59D5-4F70-27B89DB5689E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5424C7-EFB1-5BBB-5ADA-EA218E197137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EC6CD1-52BC-B32E-DCD5-23D0F03AFF02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23F02F-1179-79FE-C042-90D83164A3B3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1A2CDA0-8CAD-6D49-766A-929A55E3BD36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20BA991-8FF2-A24C-63BB-465F434270B5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7F3D20-E25E-D5A0-3877-CBE15E1F709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8CCAAD7-736A-7F87-56E9-59229CCE9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0D94BB-FC36-7C01-9146-0A9ECCC1428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FDF6B5-52FB-BB9A-B04F-616B9A598461}"/>
              </a:ext>
            </a:extLst>
          </p:cNvPr>
          <p:cNvSpPr txBox="1"/>
          <p:nvPr/>
        </p:nvSpPr>
        <p:spPr>
          <a:xfrm>
            <a:off x="4584287" y="1325302"/>
            <a:ext cx="85948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EXPECTED OUTCOMES</a:t>
            </a:r>
            <a:endParaRPr lang="en-US" sz="4800" b="1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B7ACE-A169-A2D5-7FCE-460CA171347A}"/>
              </a:ext>
            </a:extLst>
          </p:cNvPr>
          <p:cNvSpPr txBox="1"/>
          <p:nvPr/>
        </p:nvSpPr>
        <p:spPr>
          <a:xfrm>
            <a:off x="1320976" y="2862565"/>
            <a:ext cx="351598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ea typeface="Calibri"/>
              <a:cs typeface="Lucida Sans Unicod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5AE19-5FF1-6DAE-7B5A-0214F3B839F0}"/>
              </a:ext>
            </a:extLst>
          </p:cNvPr>
          <p:cNvSpPr txBox="1"/>
          <p:nvPr/>
        </p:nvSpPr>
        <p:spPr>
          <a:xfrm>
            <a:off x="1324398" y="3753262"/>
            <a:ext cx="52558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7CDCE-7C4F-D7CD-0CDC-2947A89D7E02}"/>
              </a:ext>
            </a:extLst>
          </p:cNvPr>
          <p:cNvSpPr txBox="1"/>
          <p:nvPr/>
        </p:nvSpPr>
        <p:spPr>
          <a:xfrm>
            <a:off x="1336690" y="4532106"/>
            <a:ext cx="46317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0000" y="2150000"/>
            <a:ext cx="125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What changes once WAYPOINT is running — target ranges, by benchmark: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000" y="2620000"/>
            <a:ext cx="6700000" cy="15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1500" y="3007500"/>
            <a:ext cx="775000" cy="775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2000" y="3178000"/>
            <a:ext cx="434000" cy="434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14000" y="2775000"/>
            <a:ext cx="4288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20–30%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4000" y="3395000"/>
            <a:ext cx="4288000" cy="34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Fewer Empty Miles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4000" y="3736000"/>
            <a:ext cx="4288000" cy="40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C7293"/>
                </a:solidFill>
                <a:latin typeface="Calibri"/>
              </a:rPr>
              <a:t>cut in empty-return backhaul miles — digital freight-matching benchmark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0000" y="2620000"/>
            <a:ext cx="6700000" cy="15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21500" y="3007500"/>
            <a:ext cx="775000" cy="775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lo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2000" y="3178000"/>
            <a:ext cx="434000" cy="434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14000" y="2775000"/>
            <a:ext cx="4288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C7293"/>
                </a:solidFill>
                <a:latin typeface="Calibri"/>
              </a:rPr>
              <a:t>Up to 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4000" y="3395000"/>
            <a:ext cx="4288000" cy="34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Shorter Port Dwell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4000" y="3736000"/>
            <a:ext cx="4288000" cy="40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C7293"/>
                </a:solidFill>
                <a:latin typeface="Calibri"/>
              </a:rPr>
              <a:t>lower demurrage &amp; detention cost with predictive ETA visibility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000" y="4420000"/>
            <a:ext cx="6700000" cy="15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521500" y="4807500"/>
            <a:ext cx="775000" cy="775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ol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92000" y="4978000"/>
            <a:ext cx="434000" cy="434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14000" y="4575000"/>
            <a:ext cx="4288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~10%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14000" y="5195000"/>
            <a:ext cx="4288000" cy="34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Smarter Charter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4000" y="5536000"/>
            <a:ext cx="4288000" cy="40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C7293"/>
                </a:solidFill>
                <a:latin typeface="Calibri"/>
              </a:rPr>
              <a:t>lower bulk-charter cost from rate-forecast-driven booking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0000" y="4420000"/>
            <a:ext cx="6700000" cy="1550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21500" y="4807500"/>
            <a:ext cx="775000" cy="7750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hiel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2000" y="4978000"/>
            <a:ext cx="434000" cy="434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14000" y="4575000"/>
            <a:ext cx="4288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2A541"/>
                </a:solidFill>
                <a:latin typeface="Calibri"/>
              </a:rPr>
              <a:t>Up to 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14000" y="5195000"/>
            <a:ext cx="4288000" cy="34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Earlier Cold-Chain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4000" y="5536000"/>
            <a:ext cx="4288000" cy="40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C7293"/>
                </a:solidFill>
                <a:latin typeface="Calibri"/>
              </a:rPr>
              <a:t>fewer spoilage incidents with real-time temperature monitoring</a:t>
            </a:r>
          </a:p>
        </p:txBody>
      </p:sp>
      <p:sp>
        <p:nvSpPr>
          <p:cNvPr id="48" name="Oval 47"/>
          <p:cNvSpPr/>
          <p:nvPr/>
        </p:nvSpPr>
        <p:spPr>
          <a:xfrm>
            <a:off x="1220000" y="6190000"/>
            <a:ext cx="520000" cy="520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ncho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4400" y="6304400"/>
            <a:ext cx="291200" cy="2912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880000" y="6190000"/>
            <a:ext cx="2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Port Authorities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&amp; Shipping Lines</a:t>
            </a:r>
          </a:p>
        </p:txBody>
      </p:sp>
      <p:sp>
        <p:nvSpPr>
          <p:cNvPr id="51" name="Oval 50"/>
          <p:cNvSpPr/>
          <p:nvPr/>
        </p:nvSpPr>
        <p:spPr>
          <a:xfrm>
            <a:off x="4420000" y="6190000"/>
            <a:ext cx="520000" cy="520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rou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34400" y="6304400"/>
            <a:ext cx="291200" cy="2912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80000" y="6190000"/>
            <a:ext cx="2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Logistics &amp;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Trucking Operators</a:t>
            </a:r>
          </a:p>
        </p:txBody>
      </p:sp>
      <p:sp>
        <p:nvSpPr>
          <p:cNvPr id="54" name="Oval 53"/>
          <p:cNvSpPr/>
          <p:nvPr/>
        </p:nvSpPr>
        <p:spPr>
          <a:xfrm>
            <a:off x="7620000" y="6190000"/>
            <a:ext cx="520000" cy="520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ruck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34400" y="6304400"/>
            <a:ext cx="291200" cy="2912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280000" y="6190000"/>
            <a:ext cx="2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SME Trucking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Fleets</a:t>
            </a:r>
          </a:p>
        </p:txBody>
      </p:sp>
      <p:sp>
        <p:nvSpPr>
          <p:cNvPr id="57" name="Oval 56"/>
          <p:cNvSpPr/>
          <p:nvPr/>
        </p:nvSpPr>
        <p:spPr>
          <a:xfrm>
            <a:off x="10820000" y="6190000"/>
            <a:ext cx="520000" cy="5200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nowflak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34400" y="6304400"/>
            <a:ext cx="291200" cy="2912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480000" y="6190000"/>
            <a:ext cx="2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Cold-Chain Shippers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(Pharma, Agri)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000" y="6970000"/>
            <a:ext cx="1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1C7293"/>
                </a:solidFill>
                <a:latin typeface="Calibri"/>
              </a:rPr>
              <a:t>Ranges are published industry benchmarks for comparable freight-matching, predictive-ETA, rate-forecasting &amp; cold-chain systems — our target once WAYPOINT is piloted. Next: live AIS integration, more corridors, a driver app, ML-based forecasting.</a:t>
            </a:r>
          </a:p>
        </p:txBody>
      </p:sp>
    </p:spTree>
    <p:extLst>
      <p:ext uri="{BB962C8B-B14F-4D97-AF65-F5344CB8AC3E}">
        <p14:creationId xmlns:p14="http://schemas.microsoft.com/office/powerpoint/2010/main" val="360401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3CC8-C696-B63C-E494-596D3C50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098F39D-2268-17E0-63FE-153E4E4A60B2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4FED0EF-4EBA-6E87-515E-FE4BA2E1F9BC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9F0DEBF-6A63-13AA-03C9-372730F49565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7B89FB-0F7E-5F3E-220A-CE91E6305E3D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4A2A826-24B0-8BE7-BB39-5FCC83C9B35B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06B7585-4698-C86A-5E80-AF9F0BC74CA8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4AE153A-BAC8-8258-906E-B756B85C488A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467C821-8652-ADE1-64EA-2DB88E810B6A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F9A92A4-B907-ED31-A542-9F17C23B144B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6BB44C-26CB-7C65-5D20-92B3C7BF4A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95" y="7249056"/>
            <a:ext cx="2667000" cy="150055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EF0892F-A409-0E91-2952-810E730E1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FCAE9D-5788-94DE-2D8B-D26FE70D0F9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B8C711-CEB6-E1A0-6948-849AE3FCFC28}"/>
              </a:ext>
            </a:extLst>
          </p:cNvPr>
          <p:cNvSpPr txBox="1"/>
          <p:nvPr/>
        </p:nvSpPr>
        <p:spPr>
          <a:xfrm>
            <a:off x="5653452" y="1267613"/>
            <a:ext cx="47712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B01FD-99A4-27D0-FAB2-ED92CBBBDEFE}"/>
              </a:ext>
            </a:extLst>
          </p:cNvPr>
          <p:cNvSpPr txBox="1"/>
          <p:nvPr/>
        </p:nvSpPr>
        <p:spPr>
          <a:xfrm>
            <a:off x="1413836" y="304243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545BE-4B1E-E890-68A5-7F3D33ED1E97}"/>
              </a:ext>
            </a:extLst>
          </p:cNvPr>
          <p:cNvSpPr txBox="1"/>
          <p:nvPr/>
        </p:nvSpPr>
        <p:spPr>
          <a:xfrm>
            <a:off x="1503319" y="286346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A53B74-669B-6F2A-FE8A-C66236E299DB}"/>
              </a:ext>
            </a:extLst>
          </p:cNvPr>
          <p:cNvSpPr txBox="1"/>
          <p:nvPr/>
        </p:nvSpPr>
        <p:spPr>
          <a:xfrm>
            <a:off x="1091833" y="2337458"/>
            <a:ext cx="13000000" cy="7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800" b="1">
                <a:solidFill>
                  <a:srgbClr val="0B2545"/>
                </a:solidFill>
                <a:latin typeface="Lucida Sans Unicode"/>
              </a:rPr>
              <a:t>Fragmented freight visibility → one shared route-graph across sea, port &amp; land → measurable savings in cost, time &amp; spoiled goods.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209B94-837F-BFFB-5AB3-34FE56AA9496}"/>
              </a:ext>
            </a:extLst>
          </p:cNvPr>
          <p:cNvSpPr txBox="1"/>
          <p:nvPr/>
        </p:nvSpPr>
        <p:spPr>
          <a:xfrm>
            <a:off x="1141342" y="3162882"/>
            <a:ext cx="13000000" cy="6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1700" b="0">
                <a:solidFill>
                  <a:srgbClr val="1C7293"/>
                </a:solidFill>
                <a:latin typeface="Lucida Sans Unicode"/>
              </a:rPr>
              <a:t>WAYPOINT turns freight's blind spots into one connected view — starting with India's East Coast, built to scale to any corridor.</a:t>
            </a:r>
            <a:endParaRPr lang="en-US" sz="2800">
              <a:latin typeface="Lucida Sans Unicode"/>
              <a:cs typeface="Lucida Sans Unicode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750000" y="525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etwor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48000" y="5448000"/>
            <a:ext cx="504000" cy="5040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170000" y="525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ou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8000" y="5448000"/>
            <a:ext cx="504000" cy="5040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1590000" y="5250000"/>
            <a:ext cx="900000" cy="900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88000" y="5448000"/>
            <a:ext cx="504000" cy="504000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3680000" y="5700000"/>
            <a:ext cx="3460000" cy="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00000" y="5700000"/>
            <a:ext cx="3460000" cy="0"/>
          </a:xfrm>
          <a:prstGeom prst="line">
            <a:avLst/>
          </a:prstGeom>
          <a:ln w="28575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00000" y="62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Fragmented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000" y="62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WAYPOINT's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route-graph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0000" y="62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Measurable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savings</a:t>
            </a:r>
          </a:p>
        </p:txBody>
      </p:sp>
    </p:spTree>
    <p:extLst>
      <p:ext uri="{BB962C8B-B14F-4D97-AF65-F5344CB8AC3E}">
        <p14:creationId xmlns:p14="http://schemas.microsoft.com/office/powerpoint/2010/main" val="165022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324E-308E-FD54-E1D6-7E01627C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39AFCDD-2B73-3E65-AFA7-6F9A1CCD4AD7}"/>
              </a:ext>
            </a:extLst>
          </p:cNvPr>
          <p:cNvSpPr/>
          <p:nvPr/>
        </p:nvSpPr>
        <p:spPr>
          <a:xfrm>
            <a:off x="13986" y="6800850"/>
            <a:ext cx="3567414" cy="1751032"/>
          </a:xfrm>
          <a:custGeom>
            <a:avLst/>
            <a:gdLst/>
            <a:ahLst/>
            <a:cxnLst/>
            <a:rect l="l" t="t" r="r" b="b"/>
            <a:pathLst>
              <a:path w="3629025" h="4648200">
                <a:moveTo>
                  <a:pt x="0" y="0"/>
                </a:moveTo>
                <a:lnTo>
                  <a:pt x="3629024" y="0"/>
                </a:lnTo>
                <a:lnTo>
                  <a:pt x="3629024" y="4648200"/>
                </a:lnTo>
                <a:lnTo>
                  <a:pt x="0" y="464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3103CB3-7A7C-4592-AC93-86564E49AA9C}"/>
              </a:ext>
            </a:extLst>
          </p:cNvPr>
          <p:cNvSpPr/>
          <p:nvPr/>
        </p:nvSpPr>
        <p:spPr>
          <a:xfrm>
            <a:off x="10439400" y="6915150"/>
            <a:ext cx="4786614" cy="1666874"/>
          </a:xfrm>
          <a:custGeom>
            <a:avLst/>
            <a:gdLst/>
            <a:ahLst/>
            <a:cxnLst/>
            <a:rect l="l" t="t" r="r" b="b"/>
            <a:pathLst>
              <a:path w="4543425" h="4467225">
                <a:moveTo>
                  <a:pt x="0" y="0"/>
                </a:moveTo>
                <a:lnTo>
                  <a:pt x="4543424" y="0"/>
                </a:lnTo>
                <a:lnTo>
                  <a:pt x="4543424" y="4467225"/>
                </a:lnTo>
                <a:lnTo>
                  <a:pt x="0" y="4467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2D65673-9D2F-12C8-4539-95D0CC4D0D6A}"/>
              </a:ext>
            </a:extLst>
          </p:cNvPr>
          <p:cNvSpPr/>
          <p:nvPr/>
        </p:nvSpPr>
        <p:spPr>
          <a:xfrm>
            <a:off x="0" y="6953250"/>
            <a:ext cx="2667000" cy="1628774"/>
          </a:xfrm>
          <a:custGeom>
            <a:avLst/>
            <a:gdLst/>
            <a:ahLst/>
            <a:cxnLst/>
            <a:rect l="l" t="t" r="r" b="b"/>
            <a:pathLst>
              <a:path w="4000500" h="3219450">
                <a:moveTo>
                  <a:pt x="0" y="0"/>
                </a:moveTo>
                <a:lnTo>
                  <a:pt x="4000500" y="0"/>
                </a:lnTo>
                <a:lnTo>
                  <a:pt x="40005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E662256-C1F2-AF69-4A1B-5380CD135A5B}"/>
              </a:ext>
            </a:extLst>
          </p:cNvPr>
          <p:cNvSpPr/>
          <p:nvPr/>
        </p:nvSpPr>
        <p:spPr>
          <a:xfrm>
            <a:off x="12954000" y="8001000"/>
            <a:ext cx="2299504" cy="584642"/>
          </a:xfrm>
          <a:custGeom>
            <a:avLst/>
            <a:gdLst/>
            <a:ahLst/>
            <a:cxnLst/>
            <a:rect l="l" t="t" r="r" b="b"/>
            <a:pathLst>
              <a:path w="2905125" h="1428750">
                <a:moveTo>
                  <a:pt x="0" y="0"/>
                </a:moveTo>
                <a:lnTo>
                  <a:pt x="2905125" y="0"/>
                </a:lnTo>
                <a:lnTo>
                  <a:pt x="290512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3F45259-5EBC-A8F5-4022-57B3C1C41513}"/>
              </a:ext>
            </a:extLst>
          </p:cNvPr>
          <p:cNvSpPr/>
          <p:nvPr/>
        </p:nvSpPr>
        <p:spPr>
          <a:xfrm>
            <a:off x="14300886" y="7249812"/>
            <a:ext cx="925128" cy="1061652"/>
          </a:xfrm>
          <a:custGeom>
            <a:avLst/>
            <a:gdLst/>
            <a:ahLst/>
            <a:cxnLst/>
            <a:rect l="l" t="t" r="r" b="b"/>
            <a:pathLst>
              <a:path w="1095375" h="1971675">
                <a:moveTo>
                  <a:pt x="0" y="0"/>
                </a:moveTo>
                <a:lnTo>
                  <a:pt x="1095375" y="0"/>
                </a:lnTo>
                <a:lnTo>
                  <a:pt x="1095375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189BE4B-59A6-506B-306C-D0AD3F1A6284}"/>
              </a:ext>
            </a:extLst>
          </p:cNvPr>
          <p:cNvSpPr/>
          <p:nvPr/>
        </p:nvSpPr>
        <p:spPr>
          <a:xfrm>
            <a:off x="-13504" y="-25501"/>
            <a:ext cx="1752600" cy="1857375"/>
          </a:xfrm>
          <a:custGeom>
            <a:avLst/>
            <a:gdLst/>
            <a:ahLst/>
            <a:cxnLst/>
            <a:rect l="l" t="t" r="r" b="b"/>
            <a:pathLst>
              <a:path w="2543175" h="2686050">
                <a:moveTo>
                  <a:pt x="0" y="0"/>
                </a:moveTo>
                <a:lnTo>
                  <a:pt x="2543176" y="0"/>
                </a:lnTo>
                <a:lnTo>
                  <a:pt x="254317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E22EBD-A78A-23B9-1FC6-F807BF03DEF3}"/>
              </a:ext>
            </a:extLst>
          </p:cNvPr>
          <p:cNvSpPr/>
          <p:nvPr/>
        </p:nvSpPr>
        <p:spPr>
          <a:xfrm>
            <a:off x="12515850" y="0"/>
            <a:ext cx="2724150" cy="1257300"/>
          </a:xfrm>
          <a:custGeom>
            <a:avLst/>
            <a:gdLst/>
            <a:ahLst/>
            <a:cxnLst/>
            <a:rect l="l" t="t" r="r" b="b"/>
            <a:pathLst>
              <a:path w="2724150" h="1257300">
                <a:moveTo>
                  <a:pt x="0" y="0"/>
                </a:moveTo>
                <a:lnTo>
                  <a:pt x="2724150" y="0"/>
                </a:lnTo>
                <a:lnTo>
                  <a:pt x="27241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FC6F049-03C2-D2CD-A3F1-341AD1FF7194}"/>
              </a:ext>
            </a:extLst>
          </p:cNvPr>
          <p:cNvSpPr/>
          <p:nvPr/>
        </p:nvSpPr>
        <p:spPr>
          <a:xfrm>
            <a:off x="13873684" y="1131157"/>
            <a:ext cx="1327835" cy="1012741"/>
          </a:xfrm>
          <a:custGeom>
            <a:avLst/>
            <a:gdLst/>
            <a:ahLst/>
            <a:cxnLst/>
            <a:rect l="l" t="t" r="r" b="b"/>
            <a:pathLst>
              <a:path w="1276350" h="1257300">
                <a:moveTo>
                  <a:pt x="0" y="0"/>
                </a:moveTo>
                <a:lnTo>
                  <a:pt x="1276350" y="0"/>
                </a:lnTo>
                <a:lnTo>
                  <a:pt x="1276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EB59C9E-626A-9513-ACB6-6FC0ECC8503B}"/>
              </a:ext>
            </a:extLst>
          </p:cNvPr>
          <p:cNvSpPr/>
          <p:nvPr/>
        </p:nvSpPr>
        <p:spPr>
          <a:xfrm>
            <a:off x="13239750" y="1962150"/>
            <a:ext cx="1095375" cy="723900"/>
          </a:xfrm>
          <a:custGeom>
            <a:avLst/>
            <a:gdLst/>
            <a:ahLst/>
            <a:cxnLst/>
            <a:rect l="l" t="t" r="r" b="b"/>
            <a:pathLst>
              <a:path w="1095375" h="723900">
                <a:moveTo>
                  <a:pt x="0" y="0"/>
                </a:moveTo>
                <a:lnTo>
                  <a:pt x="1095375" y="0"/>
                </a:lnTo>
                <a:lnTo>
                  <a:pt x="10953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8BE90E-C88E-F64B-38FF-7482714119E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7249056"/>
            <a:ext cx="2667000" cy="150055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0B25167-6A9B-BB61-3789-1B6CAAF55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18526" y="112826"/>
            <a:ext cx="1277660" cy="11444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3AB3C22-4F02-43B5-2BE5-5EFE6AF6149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25546" r="4516" b="25010"/>
          <a:stretch>
            <a:fillRect/>
          </a:stretch>
        </p:blipFill>
        <p:spPr>
          <a:xfrm>
            <a:off x="1807525" y="24988"/>
            <a:ext cx="4394331" cy="1320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205B15-D605-C224-CD2E-88E68911883D}"/>
              </a:ext>
            </a:extLst>
          </p:cNvPr>
          <p:cNvSpPr txBox="1"/>
          <p:nvPr/>
        </p:nvSpPr>
        <p:spPr>
          <a:xfrm>
            <a:off x="1413836" y="304243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ACAE8-E81D-F792-6FF1-B5D65462F20E}"/>
              </a:ext>
            </a:extLst>
          </p:cNvPr>
          <p:cNvSpPr txBox="1"/>
          <p:nvPr/>
        </p:nvSpPr>
        <p:spPr>
          <a:xfrm>
            <a:off x="1503319" y="286346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4C5C25-4C23-531D-A9AB-9C0C8F8813A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84475" y="3084684"/>
            <a:ext cx="9671050" cy="207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20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</Words>
  <Application>Microsoft Office PowerPoint</Application>
  <PresentationFormat>Custom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Trebuchet MS</vt:lpstr>
      <vt:lpstr>Aptos</vt:lpstr>
      <vt:lpstr>Lucida Sans Unicode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fromat</dc:title>
  <dc:creator>otamb</dc:creator>
  <cp:lastModifiedBy>otambe655@gmail.com</cp:lastModifiedBy>
  <cp:revision>1</cp:revision>
  <dcterms:created xsi:type="dcterms:W3CDTF">2006-08-16T00:00:00Z</dcterms:created>
  <dcterms:modified xsi:type="dcterms:W3CDTF">2026-09-17T17:59:39Z</dcterms:modified>
  <dc:identifier>DAHVdvwKmUg</dc:identifier>
</cp:coreProperties>
</file>